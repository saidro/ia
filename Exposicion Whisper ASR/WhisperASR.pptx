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547"/>
    <a:srgbClr val="1924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FC41BB-CB11-4A2A-80F3-30855AAE028C}">
  <a:tblStyle styleId="{39FC41BB-CB11-4A2A-80F3-30855AAE02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Transcripciones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6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6A1-4C09-B713-D2C3394FBAFD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6A1-4C09-B713-D2C3394FBAFD}"/>
              </c:ext>
            </c:extLst>
          </c:dPt>
          <c:dPt>
            <c:idx val="2"/>
            <c:bubble3D val="0"/>
            <c:spPr>
              <a:solidFill>
                <a:schemeClr val="accent1">
                  <a:tint val="6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6A1-4C09-B713-D2C3394FBAF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Ingles</c:v>
                </c:pt>
                <c:pt idx="1">
                  <c:v>Multiligue</c:v>
                </c:pt>
                <c:pt idx="2">
                  <c:v>Traducido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65</c:v>
                </c:pt>
                <c:pt idx="1">
                  <c:v>17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A4-41A7-8824-A2062CD935C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9cf53eb4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9cf53eb4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563266"/>
            <a:ext cx="90011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25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ASR </a:t>
            </a:r>
            <a:r>
              <a:rPr lang="es-MX" sz="5250" b="1" i="0" u="none" strike="noStrike" cap="none" noProof="0" dirty="0" err="1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Whisper</a:t>
            </a:r>
            <a:endParaRPr lang="es-MX" noProof="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563391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Análisis del modelo de 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OpenAI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para Reconocimiento de Voz Robusto, basado en "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Robust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Speech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Recognition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via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Large-Scale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Weak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Supervision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".</a:t>
            </a:r>
            <a:endParaRPr lang="es-MX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C57640-3447-577D-CCC0-08EF3A2ACD7D}"/>
              </a:ext>
            </a:extLst>
          </p:cNvPr>
          <p:cNvSpPr txBox="1"/>
          <p:nvPr/>
        </p:nvSpPr>
        <p:spPr>
          <a:xfrm>
            <a:off x="3682180" y="6168420"/>
            <a:ext cx="4650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s-MX" sz="2400" b="1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aid</a:t>
            </a:r>
            <a:r>
              <a:rPr lang="es-MX" sz="2400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Armando Rodríguez López</a:t>
            </a:r>
            <a:endParaRPr lang="es-MX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7026975" y="1557635"/>
            <a:ext cx="4286250" cy="428625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3" name="Google Shape;93;p14"/>
          <p:cNvSpPr txBox="1"/>
          <p:nvPr/>
        </p:nvSpPr>
        <p:spPr>
          <a:xfrm>
            <a:off x="571500" y="1466552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Automatic</a:t>
            </a: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24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Speech</a:t>
            </a: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24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Recognition</a:t>
            </a:r>
            <a:endParaRPr lang="es-MX" noProof="0"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1971377"/>
            <a:ext cx="5286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ASR, o Reconocimiento Automático del Habla, es un campo de la inteligencia artificial que convierte la voz humana (audio) en texto escrito.</a:t>
            </a:r>
            <a:endParaRPr lang="es-MX" noProof="0"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167360"/>
            <a:ext cx="5286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Es, en esencia, la habilidad de una computadora para "escuchar" y "entender" el lenguaje hablado. Tradicionalmente, esto involucra:</a:t>
            </a:r>
            <a:endParaRPr lang="es-MX" noProof="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654575"/>
            <a:ext cx="5286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Modelos como </a:t>
            </a:r>
            <a:r>
              <a:rPr lang="es-MX" sz="16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Whisper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combinan esto en una sola red neuronal.</a:t>
            </a:r>
            <a:endParaRPr lang="es-MX" noProof="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431571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Modelo Acústico: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Entiende los sonidos (fonemas).</a:t>
            </a:r>
            <a:endParaRPr lang="es-MX" noProof="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793753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Modelo de Lenguaje: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Entiende cómo se forman las palabras y frases.</a:t>
            </a:r>
            <a:endParaRPr lang="es-MX" noProof="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33102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¿Qué es ASR?</a:t>
            </a:r>
            <a:endParaRPr lang="es-MX" noProof="0" dirty="0"/>
          </a:p>
        </p:txBody>
      </p:sp>
      <p:sp>
        <p:nvSpPr>
          <p:cNvPr id="101" name="Google Shape;101;p14"/>
          <p:cNvSpPr/>
          <p:nvPr/>
        </p:nvSpPr>
        <p:spPr>
          <a:xfrm>
            <a:off x="571500" y="533102"/>
            <a:ext cx="57300" cy="5526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1836" y="44223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4829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8951"/>
            <a:ext cx="3492550" cy="30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800" y="2508951"/>
            <a:ext cx="3492550" cy="30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100" y="2508951"/>
            <a:ext cx="3492550" cy="30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94225" y="34709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Accesibilidad Universal</a:t>
            </a:r>
            <a:endParaRPr lang="es-MX" noProof="0"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38900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Genera subtítulos en tiempo real, haciendo el contenido de video y las conferencias accesibles para personas con discapacidad auditiva.</a:t>
            </a:r>
            <a:endParaRPr lang="es-MX" noProof="0"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4572524" y="34709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Búsqueda y Análisis</a:t>
            </a:r>
            <a:endParaRPr lang="es-MX" noProof="0"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4645074" y="38900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Nos permite "buscar" dentro de horas de contenido de video y podcasts, encontrando el momento exacto en que se dijo una palabra clave.</a:t>
            </a:r>
            <a:endParaRPr lang="es-MX" noProof="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350824" y="34709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Asistentes Virtuales</a:t>
            </a:r>
            <a:endParaRPr lang="es-MX" noProof="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8423374" y="38900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Es la tecnología base de Siri, Alexa y Google </a:t>
            </a:r>
            <a:r>
              <a:rPr lang="es-MX" sz="13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Assistant</a:t>
            </a: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 Es el "oído" que permite la interacción humano-computadora a través de la voz.</a:t>
            </a:r>
            <a:endParaRPr lang="es-MX" noProof="0"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8232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8232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8232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¿Por qué es Importante el Audio a Texto (ASR)?</a:t>
            </a:r>
            <a:endParaRPr lang="es-MX" noProof="0" dirty="0"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9812"/>
            <a:ext cx="533400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09812"/>
            <a:ext cx="5334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81050" y="2692955"/>
            <a:ext cx="493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es-MX" sz="24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Pre-entrenamiento</a:t>
            </a: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 + Fine-</a:t>
            </a:r>
            <a:r>
              <a:rPr lang="es-MX" sz="24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Tuning</a:t>
            </a:r>
            <a:endParaRPr lang="es-MX" noProof="0"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971550" y="3205162"/>
            <a:ext cx="45529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Los modelos anteriores (ej. Wav2Vec 2.0) aprendían de audio sin etiquetas, lo cual era bueno. Pero para transcribir, requerían un "fine-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tuning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" (re entrenamiento) en un 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dataset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"limpio" y etiquetado, como 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LibriSpeech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(audiolibros).</a:t>
            </a:r>
            <a:endParaRPr lang="es-MX" noProof="0"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677025" y="2700337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2. El Fracaso en el Mundo Real</a:t>
            </a:r>
            <a:endParaRPr lang="es-MX" noProof="0"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6677025" y="3205162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Este "fine-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tuning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" volvía a los modelos </a:t>
            </a:r>
            <a:r>
              <a:rPr lang="es-MX" sz="15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frágiles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 Se 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sobre-especializaban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en audio perfecto y sin ruido. Al enfrentarse a ruido de fondo, acentos o jerga del mundo real, su precisión colapsaba. No eran </a:t>
            </a:r>
            <a:r>
              <a:rPr lang="es-MX" sz="15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robustos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s-MX" noProof="0"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El Problema: Modelos "Frágiles"</a:t>
            </a:r>
            <a:endParaRPr lang="es-MX" noProof="0" dirty="0"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180439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La Hipótesis de </a:t>
            </a:r>
            <a:r>
              <a:rPr lang="es-MX" sz="24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OpenAI</a:t>
            </a:r>
            <a:endParaRPr lang="es-MX" noProof="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309217"/>
            <a:ext cx="5286375" cy="77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115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 lugar de usar pocos datos "perfectos" y limpios, ¿Qué pasa si usamos una cantidad </a:t>
            </a:r>
            <a:r>
              <a:rPr lang="es-MX" sz="16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MASIVA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de datos "imperfectos" (o débiles) directamente de Internet?</a:t>
            </a:r>
            <a:endParaRPr lang="es-MX" noProof="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71499" y="3371678"/>
            <a:ext cx="5286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El resultado fue un modelo entrenado con </a:t>
            </a:r>
            <a:r>
              <a:rPr lang="es-MX" sz="16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680,000 horas</a:t>
            </a:r>
            <a:endParaRPr lang="es-MX" sz="1650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 audio y transcripciones.</a:t>
            </a:r>
            <a:endParaRPr lang="es-MX" noProof="0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1476375" y="4175521"/>
            <a:ext cx="438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65% Transcripción en Inglés</a:t>
            </a:r>
            <a:endParaRPr lang="es-MX" noProof="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1476375" y="4779317"/>
            <a:ext cx="438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17% Transcripción Multilingüe</a:t>
            </a:r>
            <a:endParaRPr lang="es-MX" noProof="0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1476375" y="5383113"/>
            <a:ext cx="438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18% Traducción (Audio -&gt; Inglés)</a:t>
            </a:r>
            <a:endParaRPr lang="es-MX" noProof="0" dirty="0"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" y="4175521"/>
            <a:ext cx="381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4779317"/>
            <a:ext cx="381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5383113"/>
            <a:ext cx="381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La Solución: 680,000 Horas de “</a:t>
            </a:r>
            <a:r>
              <a:rPr lang="es-MX" sz="3600" b="1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Pruebas</a:t>
            </a: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Débiles"</a:t>
            </a:r>
            <a:endParaRPr lang="es-MX" noProof="0" dirty="0"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2314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269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430738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F641FA8-4120-E381-BC69-ED16DB820B44}"/>
              </a:ext>
            </a:extLst>
          </p:cNvPr>
          <p:cNvSpPr/>
          <p:nvPr/>
        </p:nvSpPr>
        <p:spPr>
          <a:xfrm>
            <a:off x="6693693" y="1840408"/>
            <a:ext cx="4680155" cy="430113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C734692A-F1A0-A2BC-0972-8D5DD6E57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1090656"/>
              </p:ext>
            </p:extLst>
          </p:nvPr>
        </p:nvGraphicFramePr>
        <p:xfrm>
          <a:off x="6382248" y="1902392"/>
          <a:ext cx="5303043" cy="4165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498824"/>
            <a:ext cx="5286375" cy="868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Whisper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no inventó una arquitectura nueva. Utiliza el modelo </a:t>
            </a:r>
            <a:r>
              <a:rPr lang="es-MX" sz="1650" b="1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Transformer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estándar, la misma arquitectura base que usa GPT para texto.</a:t>
            </a:r>
            <a:endParaRPr lang="es-MX" noProof="0"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622303"/>
            <a:ext cx="528637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La innovación no está en la </a:t>
            </a:r>
            <a:r>
              <a:rPr lang="es-MX" sz="1650" b="1" i="0" u="none" strike="noStrike" cap="none" noProof="0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arquitectura, 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sino en los </a:t>
            </a:r>
            <a:r>
              <a:rPr lang="es-MX" sz="1650" b="1" i="0" u="none" strike="noStrike" cap="none" noProof="0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datos 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con los que se entrenó y el formato </a:t>
            </a:r>
            <a:r>
              <a:rPr lang="es-MX" sz="1650" b="1" i="0" u="none" strike="noStrike" cap="none" noProof="0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multitarea.</a:t>
            </a:r>
            <a:endParaRPr lang="es-MX" b="1" noProof="0" dirty="0">
              <a:solidFill>
                <a:srgbClr val="00B050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904875" y="358788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s-MX" sz="16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Codificador (</a:t>
            </a:r>
            <a:r>
              <a:rPr lang="es-MX" sz="1650" b="1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Encoder</a:t>
            </a:r>
            <a:r>
              <a:rPr lang="es-MX" sz="16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"entiende" el audio.</a:t>
            </a:r>
            <a:endParaRPr lang="es-MX" noProof="0"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904875" y="413474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s-MX" sz="16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Decodificador (</a:t>
            </a:r>
            <a:r>
              <a:rPr lang="es-MX" sz="1650" b="1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Decoder</a:t>
            </a:r>
            <a:r>
              <a:rPr lang="es-MX" sz="16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"genera" el texto.</a:t>
            </a:r>
            <a:endParaRPr lang="es-MX" noProof="0"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La Arquitectura: Un </a:t>
            </a:r>
            <a:r>
              <a:rPr lang="es-MX" sz="3600" b="1" i="0" u="none" strike="noStrike" cap="none" noProof="0" dirty="0" err="1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Transformer</a:t>
            </a: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3600" b="1" i="0" u="none" strike="noStrike" cap="none" noProof="0" dirty="0" err="1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Encoder-Decoder</a:t>
            </a:r>
            <a:endParaRPr lang="es-MX" noProof="0" dirty="0"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8466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1186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1825" y="1809250"/>
            <a:ext cx="5150974" cy="41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192430"/>
          </a:solidFill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0732"/>
            <a:ext cx="3492400" cy="2676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570732"/>
            <a:ext cx="3492549" cy="2676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570732"/>
            <a:ext cx="3492400" cy="2676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6400" y="4466610"/>
            <a:ext cx="8839200" cy="181989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694216" y="2408932"/>
            <a:ext cx="32469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1. Audio a Espectrograma</a:t>
            </a:r>
            <a:endParaRPr lang="es-MX" noProof="0"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771525" y="2828032"/>
            <a:ext cx="30923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El audio (trozos de 30s) se convierte en un </a:t>
            </a:r>
            <a:r>
              <a:rPr lang="es-MX" sz="13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Espectrograma Log-Mel</a:t>
            </a: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(una "foto" del sonido) que la IA puede "ver".</a:t>
            </a:r>
            <a:endParaRPr lang="es-MX" noProof="0"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4472363" y="2408932"/>
            <a:ext cx="324712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2. Codificador (</a:t>
            </a:r>
            <a:r>
              <a:rPr lang="es-MX" sz="18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Encoder</a:t>
            </a: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es-MX" noProof="0"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4549675" y="2828032"/>
            <a:ext cx="3092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s-MX" sz="13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Encoder</a:t>
            </a: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(un </a:t>
            </a:r>
            <a:r>
              <a:rPr lang="es-MX" sz="13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Transformer</a:t>
            </a: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"mira" esta "foto" y crea una representación matemática que captura el contexto del habla.</a:t>
            </a:r>
            <a:endParaRPr lang="es-MX" noProof="0"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8250666" y="2408932"/>
            <a:ext cx="32469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3. Decodificador (</a:t>
            </a:r>
            <a:r>
              <a:rPr lang="es-MX" sz="18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Decoder</a:t>
            </a: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es-MX" noProof="0"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8327975" y="2828032"/>
            <a:ext cx="30923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s-MX" sz="13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Decoder</a:t>
            </a: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(otro </a:t>
            </a:r>
            <a:r>
              <a:rPr lang="es-MX" sz="13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Transformer</a:t>
            </a: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toma esa representación y la usa para generar el texto final, palabra por palabra (token por token).</a:t>
            </a:r>
            <a:endParaRPr lang="es-MX" noProof="0" dirty="0"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178980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178980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650" y="178980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Proceso: De Audio a Texto</a:t>
            </a:r>
            <a:endParaRPr lang="es-MX" noProof="0" dirty="0"/>
          </a:p>
        </p:txBody>
      </p:sp>
      <p:sp>
        <p:nvSpPr>
          <p:cNvPr id="191" name="Google Shape;191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9" descr="image.png"/>
          <p:cNvPicPr preferRelativeResize="0"/>
          <p:nvPr/>
        </p:nvPicPr>
        <p:blipFill rotWithShape="1">
          <a:blip r:embed="rId10">
            <a:alphaModFix/>
          </a:blip>
          <a:srcRect b="8390"/>
          <a:stretch>
            <a:fillRect/>
          </a:stretch>
        </p:blipFill>
        <p:spPr>
          <a:xfrm>
            <a:off x="1495276" y="4512698"/>
            <a:ext cx="8820150" cy="1727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1809750" y="1478756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Whisper</a:t>
            </a:r>
            <a:r>
              <a:rPr lang="es-MX" sz="16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fue entrenado para hacer todo a la vez. Le damos "órdenes" usando "Tokens Especiales" al inicio del proceso:</a:t>
            </a:r>
            <a:endParaRPr lang="es-MX" noProof="0"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2316110" y="2434828"/>
            <a:ext cx="8115300" cy="63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&lt;|es|&gt;, &lt;|en|&gt;, &lt;|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fr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|&gt;</a:t>
            </a:r>
            <a:br>
              <a:rPr lang="es-MX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Detección de Idioma: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El modelo detecta el idioma y lo usa como "token" inicial.</a:t>
            </a:r>
            <a:endParaRPr lang="es-MX" noProof="0" dirty="0"/>
          </a:p>
        </p:txBody>
      </p:sp>
      <p:sp>
        <p:nvSpPr>
          <p:cNvPr id="200" name="Google Shape;200;p20"/>
          <p:cNvSpPr txBox="1"/>
          <p:nvPr/>
        </p:nvSpPr>
        <p:spPr>
          <a:xfrm>
            <a:off x="2314853" y="3404294"/>
            <a:ext cx="8047732" cy="63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&lt;|transcribe|&gt;</a:t>
            </a:r>
            <a:br>
              <a:rPr lang="es-MX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Orden de Transcribir: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Convierte el audio al texto en el mismo idioma.</a:t>
            </a:r>
            <a:endParaRPr lang="es-MX" noProof="0" dirty="0"/>
          </a:p>
        </p:txBody>
      </p:sp>
      <p:sp>
        <p:nvSpPr>
          <p:cNvPr id="201" name="Google Shape;201;p20"/>
          <p:cNvSpPr txBox="1"/>
          <p:nvPr/>
        </p:nvSpPr>
        <p:spPr>
          <a:xfrm>
            <a:off x="2333624" y="4326135"/>
            <a:ext cx="8048625" cy="94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&lt;|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translate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|&gt;</a:t>
            </a:r>
            <a:br>
              <a:rPr lang="es-MX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Orden de Traducir: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Traduce el audio de cualquier idioma directamente al inglés (así fue entrenado).</a:t>
            </a:r>
            <a:endParaRPr lang="es-MX" noProof="0" dirty="0"/>
          </a:p>
        </p:txBody>
      </p:sp>
      <p:sp>
        <p:nvSpPr>
          <p:cNvPr id="202" name="Google Shape;202;p20"/>
          <p:cNvSpPr txBox="1"/>
          <p:nvPr/>
        </p:nvSpPr>
        <p:spPr>
          <a:xfrm>
            <a:off x="2333624" y="5413052"/>
            <a:ext cx="8077200" cy="94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&lt;|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nospeech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|&gt;</a:t>
            </a:r>
            <a:br>
              <a:rPr lang="es-MX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Detecta Silencio: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El modelo puede reportar si un segmento de audio no contiene voz.</a:t>
            </a:r>
            <a:endParaRPr lang="es-MX" noProof="0" dirty="0"/>
          </a:p>
        </p:txBody>
      </p:sp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434828"/>
            <a:ext cx="2667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374798"/>
            <a:ext cx="334267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314768"/>
            <a:ext cx="3333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5402219"/>
            <a:ext cx="3048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762000" y="545306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Funcionalidades</a:t>
            </a:r>
            <a:endParaRPr lang="es-MX" noProof="0" dirty="0"/>
          </a:p>
        </p:txBody>
      </p:sp>
      <p:sp>
        <p:nvSpPr>
          <p:cNvPr id="208" name="Google Shape;208;p20"/>
          <p:cNvSpPr/>
          <p:nvPr/>
        </p:nvSpPr>
        <p:spPr>
          <a:xfrm>
            <a:off x="571500" y="545306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4" name="Google Shape;214;p21"/>
          <p:cNvGraphicFramePr/>
          <p:nvPr>
            <p:extLst>
              <p:ext uri="{D42A27DB-BD31-4B8C-83A1-F6EECF244321}">
                <p14:modId xmlns:p14="http://schemas.microsoft.com/office/powerpoint/2010/main" val="4091589378"/>
              </p:ext>
            </p:extLst>
          </p:nvPr>
        </p:nvGraphicFramePr>
        <p:xfrm>
          <a:off x="571500" y="2091630"/>
          <a:ext cx="11049000" cy="3143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u="none" strike="noStrike" cap="none" noProof="0" dirty="0">
                          <a:solidFill>
                            <a:srgbClr val="4ADE80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Poppins"/>
                        </a:rPr>
                        <a:t>Nombre del modelo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>
                    <a:solidFill>
                      <a:srgbClr val="2535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u="none" strike="noStrike" cap="none" noProof="0" dirty="0">
                          <a:solidFill>
                            <a:srgbClr val="4ADE80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Poppins"/>
                        </a:rPr>
                        <a:t>Parámetros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>
                    <a:solidFill>
                      <a:srgbClr val="2535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u="none" strike="noStrike" cap="none" noProof="0" dirty="0">
                          <a:solidFill>
                            <a:srgbClr val="4ADE80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Poppins"/>
                        </a:rPr>
                        <a:t>VRAM Requerida (aprox.)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>
                    <a:solidFill>
                      <a:srgbClr val="25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 err="1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tiny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39 Millones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~1 GB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base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74 Millones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~1 GB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 err="1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small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244 Millones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~2 GB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 err="1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medium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769 Millones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~5 GB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 err="1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large</a:t>
                      </a: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 / large-v2 / large-v3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1550 Millones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50" b="0" u="none" strike="noStrike" cap="none" noProof="0" dirty="0">
                          <a:solidFill>
                            <a:srgbClr val="D1D5DB"/>
                          </a:solidFill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Urbanist"/>
                        </a:rPr>
                        <a:t>~10 GB</a:t>
                      </a:r>
                      <a:endParaRPr lang="es-MX" noProof="0" dirty="0">
                        <a:latin typeface="Urbanist" panose="020B0604020202020204" charset="0"/>
                        <a:ea typeface="Urbanist" panose="020B0604020202020204" charset="0"/>
                        <a:cs typeface="Urbanist" panose="020B0604020202020204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5" name="Google Shape;215;p21"/>
          <p:cNvSpPr txBox="1"/>
          <p:nvPr/>
        </p:nvSpPr>
        <p:spPr>
          <a:xfrm>
            <a:off x="571500" y="542538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 esta demo, usaremos </a:t>
            </a:r>
            <a:r>
              <a:rPr lang="es-MX" sz="135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large-v3</a:t>
            </a: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, el modelo más potente y preciso.</a:t>
            </a:r>
            <a:endParaRPr lang="es-MX" noProof="0" dirty="0"/>
          </a:p>
        </p:txBody>
      </p:sp>
      <p:sp>
        <p:nvSpPr>
          <p:cNvPr id="216" name="Google Shape;216;p21"/>
          <p:cNvSpPr/>
          <p:nvPr/>
        </p:nvSpPr>
        <p:spPr>
          <a:xfrm>
            <a:off x="571500" y="2610742"/>
            <a:ext cx="392087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492376" y="2610742"/>
            <a:ext cx="251921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7011590" y="2610742"/>
            <a:ext cx="460890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3134617"/>
            <a:ext cx="392087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492376" y="3134617"/>
            <a:ext cx="251921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7011590" y="3134617"/>
            <a:ext cx="460890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71500" y="3658492"/>
            <a:ext cx="392087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492376" y="3658492"/>
            <a:ext cx="251921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011590" y="3658492"/>
            <a:ext cx="460890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71500" y="4182367"/>
            <a:ext cx="392087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492376" y="4182367"/>
            <a:ext cx="251921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7011590" y="4182367"/>
            <a:ext cx="460890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71500" y="4706242"/>
            <a:ext cx="392087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492376" y="4706242"/>
            <a:ext cx="251921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7011590" y="4706242"/>
            <a:ext cx="460890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Los modelos </a:t>
            </a:r>
            <a:r>
              <a:rPr lang="es-MX" sz="3600" b="1" i="0" u="none" strike="noStrike" cap="none" noProof="0" dirty="0" err="1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Whisper</a:t>
            </a:r>
            <a:endParaRPr lang="es-MX" noProof="0" dirty="0"/>
          </a:p>
        </p:txBody>
      </p:sp>
      <p:sp>
        <p:nvSpPr>
          <p:cNvPr id="232" name="Google Shape;232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8387"/>
            <a:ext cx="53340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38387"/>
            <a:ext cx="533400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962025" y="2728912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Rendimiento "Zero-</a:t>
            </a:r>
            <a:r>
              <a:rPr lang="es-MX" sz="24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Shot</a:t>
            </a: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 lang="es-MX" noProof="0" dirty="0"/>
          </a:p>
        </p:txBody>
      </p:sp>
      <p:sp>
        <p:nvSpPr>
          <p:cNvPr id="248" name="Google Shape;248;p23"/>
          <p:cNvSpPr txBox="1"/>
          <p:nvPr/>
        </p:nvSpPr>
        <p:spPr>
          <a:xfrm>
            <a:off x="962025" y="3233737"/>
            <a:ext cx="4552950" cy="78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"Zero-</a:t>
            </a:r>
            <a:r>
              <a:rPr lang="es-MX" sz="15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Shot</a:t>
            </a:r>
            <a:r>
              <a:rPr lang="es-MX" sz="15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significa que funciona "fuera de la caja", sin necesidad de ningún "fine-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tuning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" o ajuste para un nuevo idioma o acento.</a:t>
            </a:r>
            <a:endParaRPr lang="es-MX" noProof="0" dirty="0"/>
          </a:p>
        </p:txBody>
      </p:sp>
      <p:sp>
        <p:nvSpPr>
          <p:cNvPr id="249" name="Google Shape;249;p23"/>
          <p:cNvSpPr txBox="1"/>
          <p:nvPr/>
        </p:nvSpPr>
        <p:spPr>
          <a:xfrm>
            <a:off x="962025" y="4148137"/>
            <a:ext cx="4552950" cy="78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Whisper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es tan bueno que supera a muchos modelos *entrenados específicamente* en un 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dataset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, ¡sin haber visto ese 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dataset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nunca!</a:t>
            </a:r>
            <a:endParaRPr lang="es-MX" noProof="0" dirty="0"/>
          </a:p>
        </p:txBody>
      </p:sp>
      <p:sp>
        <p:nvSpPr>
          <p:cNvPr id="250" name="Google Shape;250;p23"/>
          <p:cNvSpPr txBox="1"/>
          <p:nvPr/>
        </p:nvSpPr>
        <p:spPr>
          <a:xfrm>
            <a:off x="6677025" y="2728912"/>
            <a:ext cx="4780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Robustez nivel </a:t>
            </a:r>
            <a:r>
              <a:rPr lang="es-MX" sz="2400" b="1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h</a:t>
            </a:r>
            <a:r>
              <a:rPr lang="es-MX" sz="2400" b="1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umano</a:t>
            </a:r>
            <a:endParaRPr lang="es-MX" noProof="0" dirty="0"/>
          </a:p>
        </p:txBody>
      </p:sp>
      <p:sp>
        <p:nvSpPr>
          <p:cNvPr id="251" name="Google Shape;251;p23"/>
          <p:cNvSpPr txBox="1"/>
          <p:nvPr/>
        </p:nvSpPr>
        <p:spPr>
          <a:xfrm>
            <a:off x="6677025" y="3233737"/>
            <a:ext cx="4552950" cy="78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paper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demuestra que la precisión de </a:t>
            </a:r>
            <a:r>
              <a:rPr lang="es-MX" sz="15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Whisper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se acerca (y a veces supera) al de los transcriptores humanos profesionales.</a:t>
            </a:r>
            <a:endParaRPr lang="es-MX" noProof="0" dirty="0"/>
          </a:p>
        </p:txBody>
      </p:sp>
      <p:sp>
        <p:nvSpPr>
          <p:cNvPr id="252" name="Google Shape;252;p23"/>
          <p:cNvSpPr txBox="1"/>
          <p:nvPr/>
        </p:nvSpPr>
        <p:spPr>
          <a:xfrm>
            <a:off x="6677025" y="4148137"/>
            <a:ext cx="4552950" cy="78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Maneja ruido de fondo, acentos y jerga mucho mejor que cualquier modelo anterior, demostrando una </a:t>
            </a:r>
            <a:r>
              <a:rPr lang="es-MX" sz="15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robustez</a:t>
            </a:r>
            <a:r>
              <a:rPr lang="es-MX" sz="15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similar a la humana.</a:t>
            </a:r>
            <a:endParaRPr lang="es-MX" noProof="0" dirty="0"/>
          </a:p>
        </p:txBody>
      </p:sp>
      <p:sp>
        <p:nvSpPr>
          <p:cNvPr id="253" name="Google Shape;253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Resultados: "Zero-</a:t>
            </a:r>
            <a:r>
              <a:rPr lang="es-MX" sz="3600" b="1" i="0" u="none" strike="noStrike" cap="none" noProof="0" dirty="0" err="1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Shot</a:t>
            </a: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" y Robusto</a:t>
            </a:r>
            <a:endParaRPr lang="es-MX" noProof="0" dirty="0"/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8944"/>
            <a:ext cx="3492549" cy="277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08944"/>
            <a:ext cx="3492549" cy="277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08944"/>
            <a:ext cx="3492549" cy="2773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794225" y="34709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"Alucinaciones"</a:t>
            </a:r>
            <a:endParaRPr lang="es-MX" noProof="0" dirty="0"/>
          </a:p>
        </p:txBody>
      </p:sp>
      <p:sp>
        <p:nvSpPr>
          <p:cNvPr id="264" name="Google Shape;264;p24"/>
          <p:cNvSpPr txBox="1"/>
          <p:nvPr/>
        </p:nvSpPr>
        <p:spPr>
          <a:xfrm>
            <a:off x="866775" y="38900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 veces, el modelo puede inventar texto o frases que no estaban en el audio, especialmente en segmentos de silencio o ruido.</a:t>
            </a:r>
            <a:endParaRPr lang="es-MX" noProof="0" dirty="0"/>
          </a:p>
        </p:txBody>
      </p:sp>
      <p:sp>
        <p:nvSpPr>
          <p:cNvPr id="265" name="Google Shape;265;p24"/>
          <p:cNvSpPr txBox="1"/>
          <p:nvPr/>
        </p:nvSpPr>
        <p:spPr>
          <a:xfrm>
            <a:off x="4572524" y="34709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Bucles de repetición</a:t>
            </a:r>
            <a:endParaRPr lang="es-MX" noProof="0" dirty="0"/>
          </a:p>
        </p:txBody>
      </p:sp>
      <p:sp>
        <p:nvSpPr>
          <p:cNvPr id="266" name="Google Shape;266;p24"/>
          <p:cNvSpPr txBox="1"/>
          <p:nvPr/>
        </p:nvSpPr>
        <p:spPr>
          <a:xfrm>
            <a:off x="4645074" y="38900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 audios muy largos, el modelo a veces puede atascarse y repetir la misma frase una y otra vez (un fallo del decodificador).</a:t>
            </a:r>
            <a:endParaRPr lang="es-MX" noProof="0" dirty="0"/>
          </a:p>
        </p:txBody>
      </p:sp>
      <p:sp>
        <p:nvSpPr>
          <p:cNvPr id="267" name="Google Shape;267;p24"/>
          <p:cNvSpPr txBox="1"/>
          <p:nvPr/>
        </p:nvSpPr>
        <p:spPr>
          <a:xfrm>
            <a:off x="8350824" y="34709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Idiomas raros</a:t>
            </a:r>
            <a:endParaRPr lang="es-MX" noProof="0" dirty="0"/>
          </a:p>
        </p:txBody>
      </p:sp>
      <p:sp>
        <p:nvSpPr>
          <p:cNvPr id="268" name="Google Shape;268;p24"/>
          <p:cNvSpPr txBox="1"/>
          <p:nvPr/>
        </p:nvSpPr>
        <p:spPr>
          <a:xfrm>
            <a:off x="8423374" y="3890069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Su rendimiento es pobre en idiomas con pocos datos de entrenamiento (ej. menos de 1000 horas en el </a:t>
            </a:r>
            <a:r>
              <a:rPr lang="es-MX" sz="135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dataset</a:t>
            </a:r>
            <a:r>
              <a:rPr lang="es-MX" sz="135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lang="es-MX" noProof="0" dirty="0"/>
          </a:p>
        </p:txBody>
      </p:sp>
      <p:pic>
        <p:nvPicPr>
          <p:cNvPr id="269" name="Google Shape;269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6250" y="2823269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82326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549" y="2823269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Limitaciones</a:t>
            </a:r>
            <a:endParaRPr lang="es-MX" noProof="0" dirty="0"/>
          </a:p>
        </p:txBody>
      </p:sp>
      <p:sp>
        <p:nvSpPr>
          <p:cNvPr id="273" name="Google Shape;273;p2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2238375" y="2517725"/>
            <a:ext cx="8143875" cy="63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La Escala es clave: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680,000 horas de datos "débiles" y diversos demostraron ser mucho más efectivos que los </a:t>
            </a:r>
            <a:r>
              <a:rPr lang="es-MX" sz="1800" b="0" i="0" u="none" strike="noStrike" cap="none" noProof="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datasets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pequeños y "limpios" del pasado.</a:t>
            </a:r>
            <a:endParaRPr lang="es-MX" noProof="0" dirty="0"/>
          </a:p>
        </p:txBody>
      </p:sp>
      <p:sp>
        <p:nvSpPr>
          <p:cNvPr id="280" name="Google Shape;280;p25"/>
          <p:cNvSpPr txBox="1"/>
          <p:nvPr/>
        </p:nvSpPr>
        <p:spPr>
          <a:xfrm>
            <a:off x="2238375" y="3487191"/>
            <a:ext cx="8115300" cy="63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La robustez es la métrica: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Entrenar en datos desordenados del "mundo real" crea un modelo que funciona en el "mundo real" (con ruido y acentos).</a:t>
            </a:r>
            <a:endParaRPr lang="es-MX" noProof="0" dirty="0"/>
          </a:p>
        </p:txBody>
      </p:sp>
      <p:sp>
        <p:nvSpPr>
          <p:cNvPr id="281" name="Google Shape;281;p25"/>
          <p:cNvSpPr txBox="1"/>
          <p:nvPr/>
        </p:nvSpPr>
        <p:spPr>
          <a:xfrm>
            <a:off x="2238375" y="4456657"/>
            <a:ext cx="8077200" cy="63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Un Modelo multitarea:</a:t>
            </a:r>
            <a:r>
              <a:rPr lang="es-MX" sz="1800" b="0" i="0" u="none" strike="noStrike" cap="none" noProof="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Un solo modelo puede transcribir, traducir e identificar idiomas, reemplazando pipelines de IA que antes eran muy complejos.</a:t>
            </a:r>
            <a:endParaRPr lang="es-MX" noProof="0" dirty="0"/>
          </a:p>
        </p:txBody>
      </p:sp>
      <p:pic>
        <p:nvPicPr>
          <p:cNvPr id="282" name="Google Shape;28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57053"/>
            <a:ext cx="2381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516687"/>
            <a:ext cx="2667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495986"/>
            <a:ext cx="3048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Conclusiones</a:t>
            </a:r>
            <a:endParaRPr lang="es-MX" noProof="0" dirty="0"/>
          </a:p>
        </p:txBody>
      </p:sp>
      <p:sp>
        <p:nvSpPr>
          <p:cNvPr id="286" name="Google Shape;286;p2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2100500" y="2514600"/>
            <a:ext cx="799099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 b="1" i="0" u="none" strike="noStrike" cap="none" noProof="0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¡Gracias!</a:t>
            </a:r>
            <a:endParaRPr lang="es-MX" noProof="0" dirty="0"/>
          </a:p>
        </p:txBody>
      </p:sp>
      <p:sp>
        <p:nvSpPr>
          <p:cNvPr id="294" name="Google Shape;294;p26"/>
          <p:cNvSpPr txBox="1"/>
          <p:nvPr/>
        </p:nvSpPr>
        <p:spPr>
          <a:xfrm>
            <a:off x="2290762" y="4187130"/>
            <a:ext cx="7610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Artículo Base: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0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OpenAI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(2022). "</a:t>
            </a:r>
            <a:r>
              <a:rPr lang="es-MX" sz="1200" b="0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Robust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0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Speech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0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Recognition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0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via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0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Large-Scale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0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Weak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0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Supervision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". (arXiv:2212.04356) </a:t>
            </a:r>
            <a:br>
              <a:rPr lang="es-MX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200" b="1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Model</a:t>
            </a:r>
            <a:r>
              <a:rPr lang="es-MX" sz="1200" b="1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1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Card</a:t>
            </a:r>
            <a:r>
              <a:rPr lang="es-MX" sz="1200" b="1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s-MX" sz="1200" b="1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Hugging</a:t>
            </a:r>
            <a:r>
              <a:rPr lang="es-MX" sz="1200" b="1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1" i="0" u="none" strike="noStrike" cap="none" noProof="0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Face</a:t>
            </a:r>
            <a:r>
              <a:rPr lang="es-MX" sz="1200" b="1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):</a:t>
            </a:r>
            <a:r>
              <a:rPr lang="es-MX" sz="1200" b="0" i="0" u="none" strike="noStrike" cap="none" noProof="0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s-MX" sz="1200" b="0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huggingface.co/</a:t>
            </a:r>
            <a:r>
              <a:rPr lang="es-MX" sz="1200" b="0" i="0" u="none" strike="noStrike" cap="none" noProof="0" dirty="0" err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openai</a:t>
            </a:r>
            <a:r>
              <a:rPr lang="es-MX" sz="1200" b="0" i="0" u="none" strike="noStrike" cap="none" noProof="0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/whisper-large-v3</a:t>
            </a:r>
            <a:endParaRPr lang="es-MX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1076</Words>
  <Application>Microsoft Office PowerPoint</Application>
  <PresentationFormat>Panorámica</PresentationFormat>
  <Paragraphs>89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Calibri</vt:lpstr>
      <vt:lpstr>Arial</vt:lpstr>
      <vt:lpstr>Urbanist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SaidRL</dc:creator>
  <cp:lastModifiedBy>SAID ARMANDO RODRIGUEZ LOPEZ</cp:lastModifiedBy>
  <cp:revision>2</cp:revision>
  <dcterms:modified xsi:type="dcterms:W3CDTF">2025-11-19T01:58:22Z</dcterms:modified>
</cp:coreProperties>
</file>